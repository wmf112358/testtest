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5989" r:id="rId2"/>
    <p:sldMasterId id="2147486094" r:id="rId3"/>
    <p:sldMasterId id="2147486121" r:id="rId4"/>
  </p:sldMasterIdLst>
  <p:notesMasterIdLst>
    <p:notesMasterId r:id="rId6"/>
  </p:notesMasterIdLst>
  <p:handoutMasterIdLst>
    <p:handoutMasterId r:id="rId7"/>
  </p:handoutMasterIdLst>
  <p:sldIdLst>
    <p:sldId id="2251" r:id="rId5"/>
  </p:sldIdLst>
  <p:sldSz cx="9906000" cy="6858000" type="A4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ＭＳ Ｐゴシック" charset="-128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orient="horz" pos="1752">
          <p15:clr>
            <a:srgbClr val="A4A3A4"/>
          </p15:clr>
        </p15:guide>
        <p15:guide id="3" pos="1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76092"/>
    <a:srgbClr val="E7F6FF"/>
    <a:srgbClr val="CBECFF"/>
    <a:srgbClr val="C6D9F1"/>
    <a:srgbClr val="FFCCFF"/>
    <a:srgbClr val="FFCCCC"/>
    <a:srgbClr val="7F7F7F"/>
    <a:srgbClr val="4F81BD"/>
    <a:srgbClr val="948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6" autoAdjust="0"/>
    <p:restoredTop sz="99669" autoAdjust="0"/>
  </p:normalViewPr>
  <p:slideViewPr>
    <p:cSldViewPr snapToObjects="1">
      <p:cViewPr varScale="1">
        <p:scale>
          <a:sx n="111" d="100"/>
          <a:sy n="111" d="100"/>
        </p:scale>
        <p:origin x="1908" y="114"/>
      </p:cViewPr>
      <p:guideLst>
        <p:guide orient="horz" pos="2205"/>
        <p:guide orient="horz" pos="1752"/>
        <p:guide pos="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C75E6-4168-451F-9146-492174EFA5DE}" type="datetimeFigureOut">
              <a:rPr kumimoji="1" lang="ja-JP" altLang="en-US" smtClean="0"/>
              <a:t>2025/7/30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3ACEB-9C1D-40A7-8EF1-76CD56121F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448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t" anchorCtr="0" compatLnSpc="1">
            <a:prstTxWarp prst="textNoShape">
              <a:avLst/>
            </a:prstTxWarp>
          </a:bodyPr>
          <a:lstStyle>
            <a:lvl1pPr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978" y="2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t" anchorCtr="0" compatLnSpc="1">
            <a:prstTxWarp prst="textNoShape">
              <a:avLst/>
            </a:prstTxWarp>
          </a:bodyPr>
          <a:lstStyle>
            <a:lvl1pPr algn="r"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816EE9BF-94F0-48F9-ADDD-67290FCD7202}" type="datetime8">
              <a:rPr lang="ja-JP" altLang="en-US"/>
              <a:pPr>
                <a:defRPr/>
              </a:pPr>
              <a:t>25/7/30 8時49分</a:t>
            </a:fld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708025" y="744538"/>
            <a:ext cx="5387975" cy="373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0440" y="4720950"/>
            <a:ext cx="4984735" cy="4473818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45085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b" anchorCtr="0" compatLnSpc="1">
            <a:prstTxWarp prst="textNoShape">
              <a:avLst/>
            </a:prstTxWarp>
          </a:bodyPr>
          <a:lstStyle>
            <a:lvl1pPr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978" y="9445085"/>
            <a:ext cx="2951637" cy="49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87" tIns="45295" rIns="90587" bIns="45295" numCol="1" anchor="b" anchorCtr="0" compatLnSpc="1">
            <a:prstTxWarp prst="textNoShape">
              <a:avLst/>
            </a:prstTxWarp>
          </a:bodyPr>
          <a:lstStyle>
            <a:lvl1pPr algn="r" defTabSz="908856">
              <a:defRPr kumimoji="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CA73974C-908A-44C4-AABB-E2964FDD6C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276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06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09F90D-BFEC-4F7D-AB5B-9185A4D85581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ＭＳ Ｐゴシック" pitchFamily="50" charset="-128"/>
                <a:cs typeface="+mn-cs"/>
              </a:rPr>
              <a:pPr marL="0" marR="0" lvl="0" indent="0" algn="r" defTabSz="90614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ＭＳ Ｐゴシック" pitchFamily="50" charset="-128"/>
              <a:cs typeface="+mn-cs"/>
            </a:endParaRPr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700" b="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1589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00675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516813" y="333375"/>
            <a:ext cx="2389187" cy="57626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4488" y="333375"/>
            <a:ext cx="7019925" cy="57626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00675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テキスト ボックス 2"/>
          <p:cNvSpPr txBox="1"/>
          <p:nvPr userDrawn="1"/>
        </p:nvSpPr>
        <p:spPr>
          <a:xfrm>
            <a:off x="1136576" y="1340768"/>
            <a:ext cx="2304256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endParaRPr kumimoji="1" lang="ja-JP" altLang="en-US" sz="600" dirty="0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516813" y="333375"/>
            <a:ext cx="2389187" cy="57626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4488" y="333375"/>
            <a:ext cx="7019925" cy="57626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08050" y="2286000"/>
            <a:ext cx="84201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28850" y="4114800"/>
            <a:ext cx="6934200" cy="175418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>
                <a:latin typeface="Times New Roman" pitchFamily="18" charset="0"/>
              </a:defRPr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  <p:sp>
        <p:nvSpPr>
          <p:cNvPr id="5" name="テキスト ボックス 6"/>
          <p:cNvSpPr txBox="1">
            <a:spLocks noChangeArrowheads="1"/>
          </p:cNvSpPr>
          <p:nvPr userDrawn="1"/>
        </p:nvSpPr>
        <p:spPr bwMode="auto">
          <a:xfrm>
            <a:off x="9407525" y="6562725"/>
            <a:ext cx="4746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1A90D3D1-DAD7-4F5D-B8D9-FECF06E60720}" type="slidenum">
              <a:rPr kumimoji="0" lang="ja-JP" altLang="en-US" sz="1000" smtClean="0">
                <a:solidFill>
                  <a:srgbClr val="000000"/>
                </a:solidFill>
              </a:rPr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248007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42950" y="836712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259053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368376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4488" y="333375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00675" y="1981200"/>
            <a:ext cx="450532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81770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040506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4488" y="333375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118604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61128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500279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715062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4488" y="333375"/>
            <a:ext cx="8420100" cy="839788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67655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516813" y="333375"/>
            <a:ext cx="2389187" cy="5762625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44488" y="333375"/>
            <a:ext cx="7019925" cy="57626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306440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344488" y="333375"/>
            <a:ext cx="9561512" cy="5762625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39864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6"/>
          <p:cNvSpPr>
            <a:spLocks noChangeArrowheads="1"/>
          </p:cNvSpPr>
          <p:nvPr userDrawn="1"/>
        </p:nvSpPr>
        <p:spPr bwMode="gray">
          <a:xfrm>
            <a:off x="0" y="5949950"/>
            <a:ext cx="9906000" cy="908050"/>
          </a:xfrm>
          <a:prstGeom prst="rect">
            <a:avLst/>
          </a:prstGeom>
          <a:gradFill rotWithShape="1">
            <a:gsLst>
              <a:gs pos="0">
                <a:srgbClr val="CCECFF">
                  <a:alpha val="4999"/>
                </a:srgbClr>
              </a:gs>
              <a:gs pos="100000">
                <a:srgbClr val="6699FF">
                  <a:alpha val="39998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5" name="AutoShape 17"/>
          <p:cNvSpPr>
            <a:spLocks noChangeArrowheads="1"/>
          </p:cNvSpPr>
          <p:nvPr/>
        </p:nvSpPr>
        <p:spPr bwMode="gray">
          <a:xfrm rot="10800000" flipH="1">
            <a:off x="4763" y="3398838"/>
            <a:ext cx="423862" cy="390525"/>
          </a:xfrm>
          <a:prstGeom prst="rtTriangle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6" name="Rectangle 54"/>
          <p:cNvSpPr>
            <a:spLocks noChangeArrowheads="1"/>
          </p:cNvSpPr>
          <p:nvPr userDrawn="1"/>
        </p:nvSpPr>
        <p:spPr bwMode="gray">
          <a:xfrm>
            <a:off x="703263" y="3502025"/>
            <a:ext cx="9164637" cy="71438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CDDEFF">
                  <a:alpha val="71999"/>
                </a:srgbClr>
              </a:gs>
            </a:gsLst>
            <a:lin ang="18900000" scaled="1"/>
          </a:gradFill>
          <a:ln>
            <a:noFill/>
          </a:ln>
          <a:effectLst>
            <a:outerShdw dist="56796" dir="1593903" algn="ctr" rotWithShape="0">
              <a:srgbClr val="E5EEFF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7" name="Rectangle 49"/>
          <p:cNvSpPr>
            <a:spLocks noChangeArrowheads="1"/>
          </p:cNvSpPr>
          <p:nvPr userDrawn="1"/>
        </p:nvSpPr>
        <p:spPr bwMode="auto">
          <a:xfrm>
            <a:off x="1052513" y="2492375"/>
            <a:ext cx="233362" cy="1223963"/>
          </a:xfrm>
          <a:prstGeom prst="rect">
            <a:avLst/>
          </a:prstGeom>
          <a:gradFill rotWithShape="1">
            <a:gsLst>
              <a:gs pos="0">
                <a:srgbClr val="BED4FF"/>
              </a:gs>
              <a:gs pos="100000">
                <a:srgbClr val="578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8" name="Rectangle 75" descr="横線"/>
          <p:cNvSpPr>
            <a:spLocks noChangeArrowheads="1"/>
          </p:cNvSpPr>
          <p:nvPr userDrawn="1"/>
        </p:nvSpPr>
        <p:spPr bwMode="auto">
          <a:xfrm>
            <a:off x="0" y="4763"/>
            <a:ext cx="9906000" cy="400050"/>
          </a:xfrm>
          <a:prstGeom prst="rect">
            <a:avLst/>
          </a:prstGeom>
          <a:pattFill prst="ltHorz">
            <a:fgClr>
              <a:srgbClr val="6699FF"/>
            </a:fgClr>
            <a:bgClr>
              <a:srgbClr val="E5EE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r" eaLnBrk="1" hangingPunct="1">
              <a:defRPr/>
            </a:pPr>
            <a:endParaRPr lang="ja-JP" altLang="ja-JP" b="1">
              <a:solidFill>
                <a:prstClr val="white"/>
              </a:solidFill>
              <a:latin typeface="Century Gothic" pitchFamily="34" charset="0"/>
              <a:ea typeface="SimHei" pitchFamily="2" charset="-122"/>
            </a:endParaRPr>
          </a:p>
        </p:txBody>
      </p:sp>
      <p:sp>
        <p:nvSpPr>
          <p:cNvPr id="9" name="Rectangle 55"/>
          <p:cNvSpPr>
            <a:spLocks noChangeArrowheads="1"/>
          </p:cNvSpPr>
          <p:nvPr userDrawn="1"/>
        </p:nvSpPr>
        <p:spPr bwMode="gray">
          <a:xfrm>
            <a:off x="7927975" y="0"/>
            <a:ext cx="87313" cy="6851650"/>
          </a:xfrm>
          <a:prstGeom prst="rect">
            <a:avLst/>
          </a:prstGeom>
          <a:gradFill rotWithShape="1">
            <a:gsLst>
              <a:gs pos="0">
                <a:srgbClr val="6699FF"/>
              </a:gs>
              <a:gs pos="100000">
                <a:srgbClr val="CDDEFF">
                  <a:alpha val="71999"/>
                </a:srgbClr>
              </a:gs>
            </a:gsLst>
            <a:lin ang="18900000" scaled="1"/>
          </a:gradFill>
          <a:ln>
            <a:noFill/>
          </a:ln>
          <a:effectLst>
            <a:outerShdw dist="35921" dir="2700000" algn="ctr" rotWithShape="0">
              <a:srgbClr val="E5EEFF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grpSp>
        <p:nvGrpSpPr>
          <p:cNvPr id="10" name="Group 79"/>
          <p:cNvGrpSpPr>
            <a:grpSpLocks/>
          </p:cNvGrpSpPr>
          <p:nvPr userDrawn="1"/>
        </p:nvGrpSpPr>
        <p:grpSpPr bwMode="auto">
          <a:xfrm>
            <a:off x="168275" y="514350"/>
            <a:ext cx="647700" cy="647700"/>
            <a:chOff x="158" y="164"/>
            <a:chExt cx="545" cy="545"/>
          </a:xfrm>
        </p:grpSpPr>
        <p:sp>
          <p:nvSpPr>
            <p:cNvPr id="11" name="Rectangle 80"/>
            <p:cNvSpPr>
              <a:spLocks noChangeArrowheads="1"/>
            </p:cNvSpPr>
            <p:nvPr userDrawn="1"/>
          </p:nvSpPr>
          <p:spPr bwMode="auto">
            <a:xfrm rot="10800000">
              <a:off x="483" y="272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2" name="Rectangle 81"/>
            <p:cNvSpPr>
              <a:spLocks noChangeArrowheads="1"/>
            </p:cNvSpPr>
            <p:nvPr userDrawn="1"/>
          </p:nvSpPr>
          <p:spPr bwMode="auto">
            <a:xfrm rot="10800000">
              <a:off x="374" y="380"/>
              <a:ext cx="108" cy="108"/>
            </a:xfrm>
            <a:prstGeom prst="rect">
              <a:avLst/>
            </a:prstGeom>
            <a:solidFill>
              <a:srgbClr val="E5E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3" name="Rectangle 82"/>
            <p:cNvSpPr>
              <a:spLocks noChangeArrowheads="1"/>
            </p:cNvSpPr>
            <p:nvPr userDrawn="1"/>
          </p:nvSpPr>
          <p:spPr bwMode="auto">
            <a:xfrm rot="10800000">
              <a:off x="374" y="164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4" name="Rectangle 83"/>
            <p:cNvSpPr>
              <a:spLocks noChangeArrowheads="1"/>
            </p:cNvSpPr>
            <p:nvPr userDrawn="1"/>
          </p:nvSpPr>
          <p:spPr bwMode="auto">
            <a:xfrm rot="10800000">
              <a:off x="266" y="272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5" name="Rectangle 84"/>
            <p:cNvSpPr>
              <a:spLocks noChangeArrowheads="1"/>
            </p:cNvSpPr>
            <p:nvPr userDrawn="1"/>
          </p:nvSpPr>
          <p:spPr bwMode="auto">
            <a:xfrm rot="10800000">
              <a:off x="158" y="595"/>
              <a:ext cx="108" cy="108"/>
            </a:xfrm>
            <a:prstGeom prst="rect">
              <a:avLst/>
            </a:prstGeom>
            <a:solidFill>
              <a:srgbClr val="E5E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6" name="Rectangle 85"/>
            <p:cNvSpPr>
              <a:spLocks noChangeArrowheads="1"/>
            </p:cNvSpPr>
            <p:nvPr userDrawn="1"/>
          </p:nvSpPr>
          <p:spPr bwMode="auto">
            <a:xfrm rot="10800000">
              <a:off x="158" y="164"/>
              <a:ext cx="108" cy="108"/>
            </a:xfrm>
            <a:prstGeom prst="rect">
              <a:avLst/>
            </a:prstGeom>
            <a:solidFill>
              <a:srgbClr val="6699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7" name="Rectangle 86"/>
            <p:cNvSpPr>
              <a:spLocks noChangeArrowheads="1"/>
            </p:cNvSpPr>
            <p:nvPr userDrawn="1"/>
          </p:nvSpPr>
          <p:spPr bwMode="auto">
            <a:xfrm rot="10800000">
              <a:off x="591" y="164"/>
              <a:ext cx="108" cy="108"/>
            </a:xfrm>
            <a:prstGeom prst="rect">
              <a:avLst/>
            </a:prstGeom>
            <a:solidFill>
              <a:srgbClr val="E5E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8" name="Rectangle 87"/>
            <p:cNvSpPr>
              <a:spLocks noChangeArrowheads="1"/>
            </p:cNvSpPr>
            <p:nvPr userDrawn="1"/>
          </p:nvSpPr>
          <p:spPr bwMode="auto">
            <a:xfrm rot="10800000">
              <a:off x="266" y="489"/>
              <a:ext cx="108" cy="107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19" name="Rectangle 88"/>
            <p:cNvSpPr>
              <a:spLocks noChangeArrowheads="1"/>
            </p:cNvSpPr>
            <p:nvPr userDrawn="1"/>
          </p:nvSpPr>
          <p:spPr bwMode="auto">
            <a:xfrm rot="10800000">
              <a:off x="158" y="380"/>
              <a:ext cx="108" cy="108"/>
            </a:xfrm>
            <a:prstGeom prst="rect">
              <a:avLst/>
            </a:prstGeom>
            <a:solidFill>
              <a:srgbClr val="9FBF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0" name="Rectangle 89"/>
            <p:cNvSpPr>
              <a:spLocks noChangeArrowheads="1"/>
            </p:cNvSpPr>
            <p:nvPr userDrawn="1"/>
          </p:nvSpPr>
          <p:spPr bwMode="auto">
            <a:xfrm rot="10800000">
              <a:off x="593" y="380"/>
              <a:ext cx="108" cy="108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1" name="Rectangle 90"/>
            <p:cNvSpPr>
              <a:spLocks noChangeArrowheads="1"/>
            </p:cNvSpPr>
            <p:nvPr userDrawn="1"/>
          </p:nvSpPr>
          <p:spPr bwMode="auto">
            <a:xfrm rot="10800000">
              <a:off x="485" y="489"/>
              <a:ext cx="108" cy="107"/>
            </a:xfrm>
            <a:prstGeom prst="rect">
              <a:avLst/>
            </a:prstGeom>
            <a:solidFill>
              <a:srgbClr val="CDDE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2" name="Rectangle 91"/>
            <p:cNvSpPr>
              <a:spLocks noChangeArrowheads="1"/>
            </p:cNvSpPr>
            <p:nvPr userDrawn="1"/>
          </p:nvSpPr>
          <p:spPr bwMode="auto">
            <a:xfrm rot="10800000">
              <a:off x="377" y="595"/>
              <a:ext cx="108" cy="108"/>
            </a:xfrm>
            <a:prstGeom prst="rect">
              <a:avLst/>
            </a:prstGeom>
            <a:solidFill>
              <a:srgbClr val="9FBF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  <p:sp>
          <p:nvSpPr>
            <p:cNvPr id="23" name="Rectangle 92"/>
            <p:cNvSpPr>
              <a:spLocks noChangeArrowheads="1"/>
            </p:cNvSpPr>
            <p:nvPr userDrawn="1"/>
          </p:nvSpPr>
          <p:spPr bwMode="auto">
            <a:xfrm rot="10800000">
              <a:off x="595" y="601"/>
              <a:ext cx="108" cy="108"/>
            </a:xfrm>
            <a:prstGeom prst="rect">
              <a:avLst/>
            </a:prstGeom>
            <a:solidFill>
              <a:srgbClr val="6699FF"/>
            </a:solidFill>
            <a:ln>
              <a:noFill/>
            </a:ln>
            <a:effectLst>
              <a:outerShdw dist="35921" dir="2700000" algn="ctr" rotWithShape="0">
                <a:srgbClr val="E5EEFF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1pPr>
              <a:lvl2pPr marL="742950" indent="-28575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2pPr>
              <a:lvl3pPr marL="11430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3pPr>
              <a:lvl4pPr marL="16002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4pPr>
              <a:lvl5pPr marL="2057400" indent="-228600" eaLnBrk="0" hangingPunct="0"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ＭＳ Ｐゴシック" charset="-128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ja-JP" altLang="en-US" sz="1400" b="1">
                <a:solidFill>
                  <a:prstClr val="black"/>
                </a:solidFill>
              </a:endParaRPr>
            </a:p>
          </p:txBody>
        </p:sp>
      </p:grpSp>
      <p:sp>
        <p:nvSpPr>
          <p:cNvPr id="3115" name="Rectangle 43"/>
          <p:cNvSpPr>
            <a:spLocks noGrp="1" noChangeArrowheads="1"/>
          </p:cNvSpPr>
          <p:nvPr>
            <p:ph type="ctrTitle"/>
          </p:nvPr>
        </p:nvSpPr>
        <p:spPr>
          <a:xfrm>
            <a:off x="1064568" y="2246313"/>
            <a:ext cx="7256463" cy="1470025"/>
          </a:xfrm>
        </p:spPr>
        <p:txBody>
          <a:bodyPr/>
          <a:lstStyle>
            <a:lvl1pPr algn="ctr">
              <a:defRPr sz="28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116" name="Rectangle 44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5445125"/>
            <a:ext cx="6934200" cy="431800"/>
          </a:xfrm>
        </p:spPr>
        <p:txBody>
          <a:bodyPr/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24" name="Rectangle 45"/>
          <p:cNvSpPr>
            <a:spLocks noGrp="1" noChangeArrowheads="1"/>
          </p:cNvSpPr>
          <p:nvPr>
            <p:ph type="dt" sz="half" idx="10"/>
          </p:nvPr>
        </p:nvSpPr>
        <p:spPr>
          <a:xfrm>
            <a:off x="1285875" y="6165850"/>
            <a:ext cx="2311400" cy="476250"/>
          </a:xfrm>
          <a:prstGeom prst="rect">
            <a:avLst/>
          </a:prstGeom>
        </p:spPr>
        <p:txBody>
          <a:bodyPr anchor="t"/>
          <a:lstStyle>
            <a:lvl1pPr>
              <a:defRPr/>
            </a:lvl1pPr>
          </a:lstStyle>
          <a:p>
            <a:pPr algn="ctr" fontAlgn="ctr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endParaRPr lang="en-US" altLang="ja-JP">
              <a:solidFill>
                <a:prstClr val="black"/>
              </a:solidFill>
            </a:endParaRPr>
          </a:p>
        </p:txBody>
      </p:sp>
      <p:sp>
        <p:nvSpPr>
          <p:cNvPr id="25" name="Rectangle 4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76613" y="6165850"/>
            <a:ext cx="31369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ＭＳ Ｐゴシック" pitchFamily="50" charset="-128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7495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65"/>
          <p:cNvSpPr>
            <a:spLocks noChangeArrowheads="1"/>
          </p:cNvSpPr>
          <p:nvPr userDrawn="1"/>
        </p:nvSpPr>
        <p:spPr bwMode="gray">
          <a:xfrm>
            <a:off x="0" y="6669088"/>
            <a:ext cx="9906000" cy="196850"/>
          </a:xfrm>
          <a:prstGeom prst="rect">
            <a:avLst/>
          </a:prstGeom>
          <a:gradFill rotWithShape="1">
            <a:gsLst>
              <a:gs pos="0">
                <a:srgbClr val="CCECFF">
                  <a:alpha val="4999"/>
                </a:srgbClr>
              </a:gs>
              <a:gs pos="100000">
                <a:srgbClr val="6699FF">
                  <a:alpha val="39998"/>
                </a:srgbClr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5" name="Rectangle 172"/>
          <p:cNvSpPr>
            <a:spLocks noChangeArrowheads="1"/>
          </p:cNvSpPr>
          <p:nvPr userDrawn="1"/>
        </p:nvSpPr>
        <p:spPr bwMode="gray">
          <a:xfrm>
            <a:off x="273050" y="404813"/>
            <a:ext cx="9632950" cy="71437"/>
          </a:xfrm>
          <a:prstGeom prst="rect">
            <a:avLst/>
          </a:prstGeom>
          <a:gradFill rotWithShape="1">
            <a:gsLst>
              <a:gs pos="0">
                <a:schemeClr val="bg1">
                  <a:alpha val="71999"/>
                </a:schemeClr>
              </a:gs>
              <a:gs pos="100000">
                <a:srgbClr val="6699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ja-JP" altLang="en-US" sz="1400" b="1">
              <a:solidFill>
                <a:prstClr val="black"/>
              </a:solidFill>
            </a:endParaRPr>
          </a:p>
        </p:txBody>
      </p:sp>
      <p:sp>
        <p:nvSpPr>
          <p:cNvPr id="6" name="Rectangle 177"/>
          <p:cNvSpPr>
            <a:spLocks noChangeArrowheads="1"/>
          </p:cNvSpPr>
          <p:nvPr userDrawn="1"/>
        </p:nvSpPr>
        <p:spPr bwMode="auto">
          <a:xfrm>
            <a:off x="2289175" y="6337300"/>
            <a:ext cx="53467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lang="en-US" altLang="ja-JP" sz="1000">
              <a:solidFill>
                <a:prstClr val="black"/>
              </a:solidFill>
            </a:endParaRPr>
          </a:p>
          <a:p>
            <a:pPr algn="ctr" eaLnBrk="1" hangingPunct="1">
              <a:defRPr/>
            </a:pPr>
            <a:endParaRPr lang="en-US" altLang="ja-JP" sz="1000">
              <a:solidFill>
                <a:prstClr val="black"/>
              </a:solidFill>
            </a:endParaRPr>
          </a:p>
        </p:txBody>
      </p:sp>
      <p:pic>
        <p:nvPicPr>
          <p:cNvPr id="7" name="図 8" descr="SinoComdir-logom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22225"/>
            <a:ext cx="404813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スライド番号プレースホルダ 3"/>
          <p:cNvSpPr>
            <a:spLocks noGrp="1"/>
          </p:cNvSpPr>
          <p:nvPr>
            <p:ph type="sldNum" sz="quarter" idx="10"/>
          </p:nvPr>
        </p:nvSpPr>
        <p:spPr>
          <a:xfrm>
            <a:off x="9409457" y="6633356"/>
            <a:ext cx="584103" cy="1841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 fontAlgn="ctr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84D70646-AC34-4952-86F6-5152C004452E}" type="slidenum">
              <a:rPr lang="en-US" altLang="ja-JP" smtClean="0">
                <a:solidFill>
                  <a:prstClr val="black"/>
                </a:solidFill>
              </a:rPr>
              <a:pPr algn="ctr" fontAlgn="ctr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lang="en-US" altLang="ja-JP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402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333375"/>
            <a:ext cx="84201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タイトルの書式設定</a:t>
            </a:r>
          </a:p>
        </p:txBody>
      </p:sp>
      <p:sp>
        <p:nvSpPr>
          <p:cNvPr id="102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91630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テキストの書式設定</a:t>
            </a:r>
          </a:p>
          <a:p>
            <a:pPr lvl="1"/>
            <a:r>
              <a:rPr lang="ja-JP"/>
              <a:t>第 </a:t>
            </a:r>
            <a:r>
              <a:rPr lang="ja-JP" altLang="ja-JP"/>
              <a:t>2 </a:t>
            </a:r>
            <a:r>
              <a:rPr lang="ja-JP"/>
              <a:t>レベル</a:t>
            </a:r>
          </a:p>
          <a:p>
            <a:pPr lvl="2"/>
            <a:r>
              <a:rPr lang="ja-JP"/>
              <a:t>第 </a:t>
            </a:r>
            <a:r>
              <a:rPr lang="ja-JP" altLang="ja-JP"/>
              <a:t>3 </a:t>
            </a:r>
            <a:r>
              <a:rPr lang="ja-JP"/>
              <a:t>レベル</a:t>
            </a:r>
          </a:p>
          <a:p>
            <a:pPr lvl="3"/>
            <a:r>
              <a:rPr lang="ja-JP"/>
              <a:t>第 </a:t>
            </a:r>
            <a:r>
              <a:rPr lang="ja-JP" altLang="ja-JP"/>
              <a:t>4 </a:t>
            </a:r>
            <a:r>
              <a:rPr lang="ja-JP"/>
              <a:t>レベル</a:t>
            </a:r>
          </a:p>
          <a:p>
            <a:pPr lvl="4"/>
            <a:r>
              <a:rPr lang="ja-JP"/>
              <a:t>第 </a:t>
            </a:r>
            <a:r>
              <a:rPr lang="ja-JP" altLang="ja-JP"/>
              <a:t>5 </a:t>
            </a:r>
            <a:r>
              <a:rPr lang="ja-JP"/>
              <a:t>レベル</a:t>
            </a: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1722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j-lt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26"/>
          <p:cNvSpPr>
            <a:spLocks noChangeArrowheads="1"/>
          </p:cNvSpPr>
          <p:nvPr/>
        </p:nvSpPr>
        <p:spPr bwMode="auto">
          <a:xfrm>
            <a:off x="273050" y="652463"/>
            <a:ext cx="9632950" cy="76200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</p:spPr>
        <p:txBody>
          <a:bodyPr lIns="95729" tIns="47865" rIns="95729" bIns="47865"/>
          <a:lstStyle/>
          <a:p>
            <a:pPr defTabSz="957263">
              <a:defRPr/>
            </a:pPr>
            <a:endParaRPr kumimoji="0" lang="ja-JP" altLang="en-US" sz="2500">
              <a:latin typeface="Times New Roman" pitchFamily="18" charset="0"/>
              <a:ea typeface="ＭＳ Ｐゴシック" pitchFamily="50" charset="-128"/>
            </a:endParaRPr>
          </a:p>
        </p:txBody>
      </p:sp>
      <p:pic>
        <p:nvPicPr>
          <p:cNvPr id="1030" name="Picture 7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374063" y="0"/>
            <a:ext cx="1531937" cy="62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>
            <a:spLocks noChangeArrowheads="1"/>
          </p:cNvSpPr>
          <p:nvPr userDrawn="1"/>
        </p:nvSpPr>
        <p:spPr bwMode="auto">
          <a:xfrm>
            <a:off x="9407525" y="6562725"/>
            <a:ext cx="4746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1A90D3D1-DAD7-4F5D-B8D9-FECF06E60720}" type="slidenum">
              <a:rPr kumimoji="0" lang="ja-JP" altLang="en-US" sz="1000" smtClean="0">
                <a:solidFill>
                  <a:srgbClr val="000000"/>
                </a:solidFill>
              </a:rPr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60" r:id="rId1"/>
    <p:sldLayoutId id="2147486061" r:id="rId2"/>
    <p:sldLayoutId id="2147486062" r:id="rId3"/>
    <p:sldLayoutId id="2147486063" r:id="rId4"/>
    <p:sldLayoutId id="2147486064" r:id="rId5"/>
    <p:sldLayoutId id="2147486065" r:id="rId6"/>
    <p:sldLayoutId id="2147486066" r:id="rId7"/>
    <p:sldLayoutId id="2147486067" r:id="rId8"/>
    <p:sldLayoutId id="2147486068" r:id="rId9"/>
    <p:sldLayoutId id="2147486069" r:id="rId10"/>
    <p:sldLayoutId id="2147486070" r:id="rId11"/>
  </p:sldLayoutIdLst>
  <p:transition spd="med"/>
  <p:txStyles>
    <p:titleStyle>
      <a:lvl1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2pPr>
      <a:lvl3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3pPr>
      <a:lvl4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4pPr>
      <a:lvl5pPr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5pPr>
      <a:lvl6pPr marL="4572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6pPr>
      <a:lvl7pPr marL="9144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7pPr>
      <a:lvl8pPr marL="13716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8pPr>
      <a:lvl9pPr marL="1828800" algn="l" defTabSz="957263" rtl="0" eaLnBrk="1" fontAlgn="base" hangingPunct="1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58775" indent="-358775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SzPct val="80000"/>
        <a:buFont typeface="Wingdings" pitchFamily="2" charset="2"/>
        <a:buChar char="l"/>
        <a:defRPr kumimoji="1" sz="3400" b="1">
          <a:solidFill>
            <a:schemeClr val="bg2"/>
          </a:solidFill>
          <a:latin typeface="+mn-lt"/>
          <a:ea typeface="+mn-ea"/>
          <a:cs typeface="+mn-cs"/>
        </a:defRPr>
      </a:lvl1pPr>
      <a:lvl2pPr marL="777875" indent="-298450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3000" b="1">
          <a:solidFill>
            <a:schemeClr val="bg2"/>
          </a:solidFill>
          <a:latin typeface="+mn-lt"/>
          <a:ea typeface="+mn-ea"/>
        </a:defRPr>
      </a:lvl2pPr>
      <a:lvl3pPr marL="1196975" indent="-239713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2500" b="1">
          <a:solidFill>
            <a:schemeClr val="bg2"/>
          </a:solidFill>
          <a:latin typeface="+mn-lt"/>
          <a:ea typeface="+mn-ea"/>
        </a:defRPr>
      </a:lvl3pPr>
      <a:lvl4pPr marL="1674813" indent="-238125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1900" b="1">
          <a:solidFill>
            <a:schemeClr val="bg2"/>
          </a:solidFill>
          <a:latin typeface="+mn-lt"/>
          <a:ea typeface="+mn-ea"/>
        </a:defRPr>
      </a:lvl4pPr>
      <a:lvl5pPr marL="21558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5pPr>
      <a:lvl6pPr marL="26130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6pPr>
      <a:lvl7pPr marL="30702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7pPr>
      <a:lvl8pPr marL="35274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8pPr>
      <a:lvl9pPr marL="3984625" indent="-242888" algn="l" defTabSz="957263" rtl="0" eaLnBrk="1" fontAlgn="base" hangingPunct="1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6"/>
          <p:cNvSpPr>
            <a:spLocks noChangeArrowheads="1"/>
          </p:cNvSpPr>
          <p:nvPr/>
        </p:nvSpPr>
        <p:spPr bwMode="auto">
          <a:xfrm>
            <a:off x="273050" y="652463"/>
            <a:ext cx="9632950" cy="76200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</p:spPr>
        <p:txBody>
          <a:bodyPr lIns="95729" tIns="47865" rIns="95729" bIns="47865"/>
          <a:lstStyle/>
          <a:p>
            <a:pPr defTabSz="957263">
              <a:defRPr/>
            </a:pPr>
            <a:endParaRPr kumimoji="0" lang="ja-JP" altLang="en-US" sz="2500">
              <a:latin typeface="Times New Roman" pitchFamily="18" charset="0"/>
              <a:ea typeface="ＭＳ Ｐゴシック" pitchFamily="50" charset="-128"/>
            </a:endParaRPr>
          </a:p>
        </p:txBody>
      </p:sp>
      <p:pic>
        <p:nvPicPr>
          <p:cNvPr id="3075" name="Picture 7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374063" y="0"/>
            <a:ext cx="1531937" cy="627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テキスト ボックス 6"/>
          <p:cNvSpPr txBox="1">
            <a:spLocks noChangeArrowheads="1"/>
          </p:cNvSpPr>
          <p:nvPr/>
        </p:nvSpPr>
        <p:spPr bwMode="auto">
          <a:xfrm>
            <a:off x="9407525" y="6562725"/>
            <a:ext cx="474663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1A90D3D1-DAD7-4F5D-B8D9-FECF06E60720}" type="slidenum">
              <a:rPr kumimoji="0" lang="ja-JP" altLang="en-US" sz="1000" smtClean="0"/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/>
          </a:p>
        </p:txBody>
      </p:sp>
      <p:sp>
        <p:nvSpPr>
          <p:cNvPr id="307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44488" y="333375"/>
            <a:ext cx="84201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タイトルの書式設定</a:t>
            </a:r>
          </a:p>
        </p:txBody>
      </p:sp>
      <p:sp>
        <p:nvSpPr>
          <p:cNvPr id="307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91630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/>
              <a:t>マスタ テキストの書式設定</a:t>
            </a:r>
          </a:p>
          <a:p>
            <a:pPr lvl="1"/>
            <a:r>
              <a:rPr lang="ja-JP"/>
              <a:t>第 </a:t>
            </a:r>
            <a:r>
              <a:rPr lang="ja-JP" altLang="ja-JP"/>
              <a:t>2 </a:t>
            </a:r>
            <a:r>
              <a:rPr lang="ja-JP"/>
              <a:t>レベル</a:t>
            </a:r>
          </a:p>
          <a:p>
            <a:pPr lvl="2"/>
            <a:r>
              <a:rPr lang="ja-JP"/>
              <a:t>第 </a:t>
            </a:r>
            <a:r>
              <a:rPr lang="ja-JP" altLang="ja-JP"/>
              <a:t>3 </a:t>
            </a:r>
            <a:r>
              <a:rPr lang="ja-JP"/>
              <a:t>レベル</a:t>
            </a:r>
          </a:p>
          <a:p>
            <a:pPr lvl="3"/>
            <a:r>
              <a:rPr lang="ja-JP"/>
              <a:t>第 </a:t>
            </a:r>
            <a:r>
              <a:rPr lang="ja-JP" altLang="ja-JP"/>
              <a:t>4 </a:t>
            </a:r>
            <a:r>
              <a:rPr lang="ja-JP"/>
              <a:t>レベル</a:t>
            </a:r>
          </a:p>
          <a:p>
            <a:pPr lvl="4"/>
            <a:r>
              <a:rPr lang="ja-JP"/>
              <a:t>第 </a:t>
            </a:r>
            <a:r>
              <a:rPr lang="ja-JP" altLang="ja-JP"/>
              <a:t>5 </a:t>
            </a:r>
            <a:r>
              <a:rPr lang="ja-JP"/>
              <a:t>レベル</a:t>
            </a:r>
          </a:p>
        </p:txBody>
      </p:sp>
      <p:sp>
        <p:nvSpPr>
          <p:cNvPr id="307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1722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j-lt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82" r:id="rId1"/>
    <p:sldLayoutId id="2147486083" r:id="rId2"/>
    <p:sldLayoutId id="2147486084" r:id="rId3"/>
    <p:sldLayoutId id="2147486085" r:id="rId4"/>
    <p:sldLayoutId id="2147486086" r:id="rId5"/>
    <p:sldLayoutId id="2147486087" r:id="rId6"/>
    <p:sldLayoutId id="2147486088" r:id="rId7"/>
    <p:sldLayoutId id="2147486089" r:id="rId8"/>
    <p:sldLayoutId id="2147486090" r:id="rId9"/>
    <p:sldLayoutId id="2147486091" r:id="rId10"/>
    <p:sldLayoutId id="2147486092" r:id="rId11"/>
  </p:sldLayoutIdLst>
  <p:transition spd="med"/>
  <p:txStyles>
    <p:titleStyle>
      <a:lvl1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2pPr>
      <a:lvl3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3pPr>
      <a:lvl4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4pPr>
      <a:lvl5pPr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5pPr>
      <a:lvl6pPr marL="4572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6pPr>
      <a:lvl7pPr marL="9144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7pPr>
      <a:lvl8pPr marL="13716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8pPr>
      <a:lvl9pPr marL="1828800" algn="l" defTabSz="957263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58775" indent="-35877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SzPct val="80000"/>
        <a:buFont typeface="Wingdings" pitchFamily="2" charset="2"/>
        <a:buChar char="l"/>
        <a:defRPr sz="3400" b="1">
          <a:solidFill>
            <a:schemeClr val="bg2"/>
          </a:solidFill>
          <a:latin typeface="+mn-lt"/>
          <a:ea typeface="+mn-ea"/>
          <a:cs typeface="+mn-cs"/>
        </a:defRPr>
      </a:lvl1pPr>
      <a:lvl2pPr marL="777875" indent="-298450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sz="3000" b="1">
          <a:solidFill>
            <a:schemeClr val="bg2"/>
          </a:solidFill>
          <a:latin typeface="+mn-lt"/>
          <a:ea typeface="+mn-ea"/>
        </a:defRPr>
      </a:lvl2pPr>
      <a:lvl3pPr marL="1196975" indent="-239713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2500" b="1">
          <a:solidFill>
            <a:schemeClr val="bg2"/>
          </a:solidFill>
          <a:latin typeface="+mn-lt"/>
          <a:ea typeface="+mn-ea"/>
        </a:defRPr>
      </a:lvl3pPr>
      <a:lvl4pPr marL="1674813" indent="-23812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sz="1900" b="1">
          <a:solidFill>
            <a:schemeClr val="bg2"/>
          </a:solidFill>
          <a:latin typeface="+mn-lt"/>
          <a:ea typeface="+mn-ea"/>
        </a:defRPr>
      </a:lvl4pPr>
      <a:lvl5pPr marL="21558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5pPr>
      <a:lvl6pPr marL="26130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6pPr>
      <a:lvl7pPr marL="30702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7pPr>
      <a:lvl8pPr marL="35274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8pPr>
      <a:lvl9pPr marL="39846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sz="19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91630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6395" tIns="48197" rIns="96395" bIns="481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2560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1722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395" tIns="48197" rIns="96395" bIns="48197" numCol="1" anchor="ctr" anchorCtr="0" compatLnSpc="1">
            <a:prstTxWarp prst="textNoShape">
              <a:avLst/>
            </a:prstTxWarp>
          </a:bodyPr>
          <a:lstStyle>
            <a:lvl1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>
              <a:solidFill>
                <a:prstClr val="black"/>
              </a:solidFill>
            </a:endParaRPr>
          </a:p>
        </p:txBody>
      </p:sp>
      <p:sp>
        <p:nvSpPr>
          <p:cNvPr id="1029" name="Rectangle 26"/>
          <p:cNvSpPr>
            <a:spLocks noChangeArrowheads="1"/>
          </p:cNvSpPr>
          <p:nvPr/>
        </p:nvSpPr>
        <p:spPr bwMode="auto">
          <a:xfrm>
            <a:off x="272480" y="671513"/>
            <a:ext cx="9630345" cy="76200"/>
          </a:xfrm>
          <a:prstGeom prst="rect">
            <a:avLst/>
          </a:pr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29" tIns="47865" rIns="95729" bIns="47865"/>
          <a:lstStyle/>
          <a:p>
            <a:pPr defTabSz="957263"/>
            <a:endParaRPr lang="ja-JP" altLang="ja-JP" sz="25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pic>
        <p:nvPicPr>
          <p:cNvPr id="1030" name="図 7" descr="C:\Users\xunhe043\Desktop\未标题-1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0"/>
            <a:ext cx="167322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6"/>
          <p:cNvSpPr txBox="1">
            <a:spLocks noChangeArrowheads="1"/>
          </p:cNvSpPr>
          <p:nvPr/>
        </p:nvSpPr>
        <p:spPr bwMode="auto">
          <a:xfrm>
            <a:off x="9407525" y="6562725"/>
            <a:ext cx="474663" cy="2587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1pPr>
            <a:lvl2pPr marL="742950" indent="-28575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2pPr>
            <a:lvl3pPr marL="1143000" indent="-22860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3pPr>
            <a:lvl4pPr marL="1600200" indent="-22860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4pPr>
            <a:lvl5pPr marL="2057400" indent="-228600" eaLnBrk="0" hangingPunct="0"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 sz="1200">
                <a:solidFill>
                  <a:schemeClr val="tx1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 eaLnBrk="1" fontAlgn="ctr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defRPr/>
            </a:pPr>
            <a:fld id="{D555F367-4119-4E45-920E-2DA35BF7F925}" type="slidenum">
              <a:rPr kumimoji="0" lang="ja-JP" altLang="en-US" sz="1000" smtClean="0">
                <a:solidFill>
                  <a:prstClr val="black"/>
                </a:solidFill>
              </a:rPr>
              <a:pPr algn="ctr" eaLnBrk="1" fontAlgn="ctr" hangingPunct="1">
                <a:lnSpc>
                  <a:spcPct val="110000"/>
                </a:lnSpc>
                <a:spcBef>
                  <a:spcPct val="10000"/>
                </a:spcBef>
                <a:spcAft>
                  <a:spcPct val="10000"/>
                </a:spcAft>
                <a:buClr>
                  <a:srgbClr val="647E9E"/>
                </a:buClr>
                <a:buSzPct val="80000"/>
                <a:buFont typeface="Wingdings" pitchFamily="2" charset="2"/>
                <a:buNone/>
                <a:defRPr/>
              </a:pPr>
              <a:t>‹#›</a:t>
            </a:fld>
            <a:endParaRPr kumimoji="0" lang="ja-JP" altLang="en-US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76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95" r:id="rId1"/>
    <p:sldLayoutId id="2147486096" r:id="rId2"/>
    <p:sldLayoutId id="2147486097" r:id="rId3"/>
    <p:sldLayoutId id="2147486098" r:id="rId4"/>
    <p:sldLayoutId id="2147486099" r:id="rId5"/>
    <p:sldLayoutId id="2147486100" r:id="rId6"/>
    <p:sldLayoutId id="2147486101" r:id="rId7"/>
    <p:sldLayoutId id="2147486102" r:id="rId8"/>
    <p:sldLayoutId id="2147486103" r:id="rId9"/>
    <p:sldLayoutId id="2147486104" r:id="rId10"/>
    <p:sldLayoutId id="2147486105" r:id="rId11"/>
    <p:sldLayoutId id="2147486106" r:id="rId12"/>
  </p:sldLayoutIdLst>
  <p:transition spd="med"/>
  <p:hf hdr="0" dt="0"/>
  <p:txStyles>
    <p:titleStyle>
      <a:lvl1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+mj-lt"/>
          <a:ea typeface="+mj-ea"/>
          <a:cs typeface="+mj-cs"/>
        </a:defRPr>
      </a:lvl1pPr>
      <a:lvl2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2pPr>
      <a:lvl3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3pPr>
      <a:lvl4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4pPr>
      <a:lvl5pPr algn="l" defTabSz="957263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5pPr>
      <a:lvl6pPr marL="4572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6pPr>
      <a:lvl7pPr marL="9144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7pPr>
      <a:lvl8pPr marL="13716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8pPr>
      <a:lvl9pPr marL="1828800" algn="l" defTabSz="957263" rtl="0" fontAlgn="base">
        <a:spcBef>
          <a:spcPct val="0"/>
        </a:spcBef>
        <a:spcAft>
          <a:spcPct val="0"/>
        </a:spcAft>
        <a:defRPr kumimoji="1" sz="3800" b="1">
          <a:solidFill>
            <a:schemeClr val="bg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58775" indent="-35877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SzPct val="80000"/>
        <a:buFont typeface="Wingdings" pitchFamily="2" charset="2"/>
        <a:buChar char="l"/>
        <a:defRPr kumimoji="1" sz="3400" b="1">
          <a:solidFill>
            <a:schemeClr val="bg2"/>
          </a:solidFill>
          <a:latin typeface="+mn-lt"/>
          <a:ea typeface="+mn-ea"/>
          <a:cs typeface="+mn-cs"/>
        </a:defRPr>
      </a:lvl1pPr>
      <a:lvl2pPr marL="777875" indent="-298450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3000" b="1">
          <a:solidFill>
            <a:schemeClr val="bg2"/>
          </a:solidFill>
          <a:latin typeface="+mn-lt"/>
          <a:ea typeface="+mn-ea"/>
        </a:defRPr>
      </a:lvl2pPr>
      <a:lvl3pPr marL="1196975" indent="-239713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2500" b="1">
          <a:solidFill>
            <a:schemeClr val="bg2"/>
          </a:solidFill>
          <a:latin typeface="+mn-lt"/>
          <a:ea typeface="+mn-ea"/>
        </a:defRPr>
      </a:lvl3pPr>
      <a:lvl4pPr marL="1674813" indent="-238125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–"/>
        <a:defRPr kumimoji="1" sz="1900" b="1">
          <a:solidFill>
            <a:schemeClr val="bg2"/>
          </a:solidFill>
          <a:latin typeface="+mn-lt"/>
          <a:ea typeface="+mn-ea"/>
        </a:defRPr>
      </a:lvl4pPr>
      <a:lvl5pPr marL="2155825" indent="-242888" algn="l" defTabSz="957263" rtl="0" eaLnBrk="0" fontAlgn="base" hangingPunct="0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5pPr>
      <a:lvl6pPr marL="26130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6pPr>
      <a:lvl7pPr marL="30702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7pPr>
      <a:lvl8pPr marL="35274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8pPr>
      <a:lvl9pPr marL="3984625" indent="-242888" algn="l" defTabSz="957263" rtl="0" fontAlgn="base">
        <a:spcBef>
          <a:spcPct val="20000"/>
        </a:spcBef>
        <a:spcAft>
          <a:spcPct val="0"/>
        </a:spcAft>
        <a:buClr>
          <a:srgbClr val="33CCCC"/>
        </a:buClr>
        <a:buChar char="•"/>
        <a:defRPr kumimoji="1" sz="1900" b="1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5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765175"/>
            <a:ext cx="8915400" cy="568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051" name="Rectangle 159"/>
          <p:cNvSpPr>
            <a:spLocks noGrp="1" noChangeArrowheads="1"/>
          </p:cNvSpPr>
          <p:nvPr>
            <p:ph type="title"/>
          </p:nvPr>
        </p:nvSpPr>
        <p:spPr bwMode="auto">
          <a:xfrm>
            <a:off x="447675" y="-60325"/>
            <a:ext cx="84201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69514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22" r:id="rId1"/>
    <p:sldLayoutId id="214748612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000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Arial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Arial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正方形/長方形 181"/>
          <p:cNvSpPr/>
          <p:nvPr/>
        </p:nvSpPr>
        <p:spPr bwMode="auto">
          <a:xfrm>
            <a:off x="5356584" y="6309368"/>
            <a:ext cx="4459766" cy="450133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kumimoji="0" lang="en-US" altLang="ja-JP" kern="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報告書自動化開発で</a:t>
            </a:r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ノウハウを蓄積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し、</a:t>
            </a:r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将来、他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案件</a:t>
            </a:r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へ展開可能</a:t>
            </a:r>
          </a:p>
        </p:txBody>
      </p:sp>
      <p:sp>
        <p:nvSpPr>
          <p:cNvPr id="200" name="正方形/長方形 199"/>
          <p:cNvSpPr/>
          <p:nvPr/>
        </p:nvSpPr>
        <p:spPr bwMode="auto">
          <a:xfrm>
            <a:off x="5254710" y="5387744"/>
            <a:ext cx="4561640" cy="1371757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ja-JP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テキスト ボックス 21"/>
          <p:cNvSpPr txBox="1">
            <a:spLocks noChangeArrowheads="1"/>
          </p:cNvSpPr>
          <p:nvPr/>
        </p:nvSpPr>
        <p:spPr bwMode="auto">
          <a:xfrm>
            <a:off x="179772" y="238125"/>
            <a:ext cx="804990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l"/>
              <a:defRPr kumimoji="1" sz="34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1pPr>
            <a:lvl2pPr marL="742950" indent="-28575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–"/>
              <a:defRPr kumimoji="1" sz="30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2pPr>
            <a:lvl3pPr marL="11430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25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3pPr>
            <a:lvl4pPr marL="16002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–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4pPr>
            <a:lvl5pPr marL="2057400" indent="-228600" algn="l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CCCC"/>
              </a:buClr>
              <a:buChar char="•"/>
              <a:defRPr kumimoji="1" sz="1900" b="1">
                <a:solidFill>
                  <a:schemeClr val="bg2"/>
                </a:solidFill>
                <a:latin typeface="Arial" charset="0"/>
                <a:ea typeface="ＭＳ Ｐゴシック" charset="-128"/>
              </a:defRPr>
            </a:lvl9pPr>
          </a:lstStyle>
          <a:p>
            <a:pPr fontAlgn="ctr">
              <a:lnSpc>
                <a:spcPct val="110000"/>
              </a:lnSpc>
              <a:spcAft>
                <a:spcPct val="10000"/>
              </a:spcAft>
              <a:buClr>
                <a:srgbClr val="647E9E"/>
              </a:buClr>
              <a:buSzPct val="80000"/>
              <a:buNone/>
              <a:defRPr/>
            </a:pPr>
            <a:r>
              <a:rPr kumimoji="1" lang="en-US" altLang="ja-JP" sz="20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【</a:t>
            </a:r>
            <a:r>
              <a:rPr kumimoji="1" lang="ja-JP" altLang="en-US" sz="2000" b="0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トピックス</a:t>
            </a:r>
            <a:r>
              <a:rPr kumimoji="1" lang="en-US" altLang="ja-JP" sz="2000" b="0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】SMART</a:t>
            </a:r>
            <a:r>
              <a:rPr kumimoji="1" lang="ja-JP" altLang="en-US" sz="2000" b="0" i="0" u="none" strike="noStrike" kern="0" cap="none" spc="-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テスト報告書</a:t>
            </a:r>
            <a:r>
              <a:rPr lang="ja-JP" altLang="ja-JP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自動化</a:t>
            </a:r>
            <a:r>
              <a:rPr lang="ja-JP" altLang="en-US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提案</a:t>
            </a:r>
            <a:r>
              <a:rPr lang="ja-JP" altLang="ja-JP" sz="2000" b="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について</a:t>
            </a:r>
            <a:endParaRPr lang="ja-JP" altLang="en-US" sz="2000" b="0" kern="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Rectangle 281"/>
          <p:cNvSpPr>
            <a:spLocks noChangeArrowheads="1"/>
          </p:cNvSpPr>
          <p:nvPr/>
        </p:nvSpPr>
        <p:spPr bwMode="auto">
          <a:xfrm>
            <a:off x="695395" y="771979"/>
            <a:ext cx="9120954" cy="47599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72000" tIns="72000" rIns="0" bIns="72000" anchor="ctr" anchorCtr="0"/>
          <a:lstStyle/>
          <a:p>
            <a:pPr marL="180975" indent="-180975" fontAlgn="auto"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  <a:defRPr/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生成式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技術を活用し、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IPO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に基づいて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SMART</a:t>
            </a:r>
            <a:r>
              <a:rPr kumimoji="0" lang="ja-JP" altLang="en-US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テスト報告書作成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の自動化することで</a:t>
            </a:r>
            <a:r>
              <a:rPr lang="ja-JP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作業効率向上と品質の安定化を図ります。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0975" indent="-180975" fontAlgn="auto"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本頁では、提案詳細</a:t>
            </a:r>
            <a:r>
              <a:rPr kumimoji="0" lang="ja-JP" altLang="en-US" noProof="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と期待効果等</a:t>
            </a:r>
            <a:r>
              <a:rPr kumimoji="0" lang="ja-JP" altLang="en-US" kern="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について、ご報告させて頂きます。</a:t>
            </a:r>
            <a:endParaRPr kumimoji="0" lang="en-US" altLang="ja-JP" kern="0" dirty="0">
              <a:solidFill>
                <a:prstClr val="black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69" name="正方形/長方形 68"/>
          <p:cNvSpPr/>
          <p:nvPr/>
        </p:nvSpPr>
        <p:spPr bwMode="auto">
          <a:xfrm>
            <a:off x="272480" y="773088"/>
            <a:ext cx="399600" cy="482368"/>
          </a:xfrm>
          <a:prstGeom prst="rect">
            <a:avLst/>
          </a:prstGeom>
          <a:solidFill>
            <a:srgbClr val="376092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none" lIns="9000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概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要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72" name="Rectangle 4"/>
          <p:cNvSpPr>
            <a:spLocks noChangeArrowheads="1"/>
          </p:cNvSpPr>
          <p:nvPr/>
        </p:nvSpPr>
        <p:spPr bwMode="auto">
          <a:xfrm>
            <a:off x="1183656" y="2780927"/>
            <a:ext cx="8632694" cy="265199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72000" tIns="72000" rIns="0" bIns="72000" anchor="t" anchorCtr="0"/>
          <a:lstStyle/>
          <a:p>
            <a:pPr marL="180975" lvl="0" indent="-180975"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kumimoji="0" lang="ja-JP" altLang="en-US" kern="0" dirty="0"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以上の分析に基づいて、</a:t>
            </a:r>
            <a:r>
              <a:rPr kumimoji="0" lang="ja-JP" altLang="en-US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新技術を活用し、</a:t>
            </a:r>
            <a:r>
              <a:rPr kumimoji="0" lang="en-US" altLang="ja-JP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IPO</a:t>
            </a:r>
            <a:r>
              <a:rPr kumimoji="0" lang="ja-JP" altLang="en-US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を解析し、テスト報告書の自動化を</a:t>
            </a:r>
            <a:r>
              <a:rPr kumimoji="0" lang="ja-JP" altLang="en-US" kern="0" dirty="0">
                <a:latin typeface="Meiryo UI" panose="020B0604030504040204" pitchFamily="50" charset="-128"/>
                <a:ea typeface="Meiryo UI" panose="020B0604030504040204" pitchFamily="50" charset="-128"/>
                <a:cs typeface="Meiryo UI" pitchFamily="50" charset="-128"/>
              </a:rPr>
              <a:t>提案した結果、顧客から高度な承認を得た。</a:t>
            </a:r>
            <a:endParaRPr kumimoji="1" lang="en-US" altLang="ja-JP" sz="900" b="0" i="0" u="none" strike="noStrike" kern="1200" cap="none" spc="100" normalizeH="0" baseline="0" noProof="0" dirty="0">
              <a:ln>
                <a:noFill/>
              </a:ln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3" name="正方形/長方形 72"/>
          <p:cNvSpPr/>
          <p:nvPr/>
        </p:nvSpPr>
        <p:spPr>
          <a:xfrm>
            <a:off x="1183654" y="1288459"/>
            <a:ext cx="8632695" cy="93888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72000" tIns="72000" rIns="0" bIns="72000" anchor="t" anchorCtr="0"/>
          <a:lstStyle/>
          <a:p>
            <a:pPr marL="180975" indent="-180975"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kumimoji="0" lang="en-US" altLang="ja-JP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SMART</a:t>
            </a:r>
            <a:r>
              <a:rPr kumimoji="0" lang="ja-JP" altLang="en-US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開発において、</a:t>
            </a:r>
            <a:r>
              <a:rPr kumimoji="0" lang="ja-JP" altLang="en-US" kern="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</a:rPr>
              <a:t>現状のテスト報告書作成について、下記のような課題があります。</a:t>
            </a:r>
            <a:endParaRPr kumimoji="0" lang="en-US" altLang="ja-JP" kern="0" dirty="0">
              <a:solidFill>
                <a:prstClr val="black"/>
              </a:solidFill>
              <a:latin typeface="Meiryo UI" pitchFamily="50" charset="-128"/>
              <a:ea typeface="Meiryo UI" pitchFamily="50" charset="-128"/>
            </a:endParaRPr>
          </a:p>
          <a:p>
            <a:pPr marL="288000" indent="-171450">
              <a:spcBef>
                <a:spcPts val="300"/>
              </a:spcBef>
              <a:buClr>
                <a:srgbClr val="376092"/>
              </a:buClr>
              <a:buFont typeface="Wingdings" panose="05000000000000000000" pitchFamily="2" charset="2"/>
              <a:buChar char="ü"/>
            </a:pPr>
            <a:r>
              <a:rPr kumimoji="0" lang="ja-JP" altLang="en-US" sz="1100" kern="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</a:rPr>
              <a:t>作成時間がかかる：手作業による記述が多い、テスト報告書完了までに多くの工数が必要である</a:t>
            </a:r>
            <a:endParaRPr lang="en-US" altLang="ja-JP" sz="11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288000" indent="-171450">
              <a:spcBef>
                <a:spcPts val="300"/>
              </a:spcBef>
              <a:buClr>
                <a:srgbClr val="376092"/>
              </a:buClr>
              <a:buFont typeface="Wingdings" panose="05000000000000000000" pitchFamily="2" charset="2"/>
              <a:buChar char="ü"/>
            </a:pPr>
            <a:r>
              <a:rPr kumimoji="0" lang="ja-JP" altLang="en-US" sz="1100" kern="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</a:rPr>
              <a:t>ヒューマンエラーが多い：記載ミスやフォーマットの不統一等、低レベルのミスが頻発している</a:t>
            </a:r>
            <a:endParaRPr kumimoji="0" lang="en-US" altLang="ja-JP" sz="1100" kern="0" dirty="0">
              <a:solidFill>
                <a:prstClr val="black"/>
              </a:solidFill>
              <a:latin typeface="Meiryo UI" pitchFamily="50" charset="-128"/>
              <a:ea typeface="Meiryo UI" pitchFamily="50" charset="-128"/>
            </a:endParaRPr>
          </a:p>
          <a:p>
            <a:pPr marL="288000" indent="-171450">
              <a:spcBef>
                <a:spcPts val="300"/>
              </a:spcBef>
              <a:buClr>
                <a:srgbClr val="376092"/>
              </a:buClr>
              <a:buFont typeface="Wingdings" panose="05000000000000000000" pitchFamily="2" charset="2"/>
              <a:buChar char="ü"/>
            </a:pPr>
            <a:r>
              <a:rPr kumimoji="0" lang="ja-JP" altLang="en-US" sz="1100" kern="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</a:rPr>
              <a:t>属人化している：担当者によって内容の表現形式が異なり、品質にばらつきが見られる</a:t>
            </a:r>
            <a:endParaRPr kumimoji="0" lang="en-US" altLang="ja-JP" sz="1100" kern="0" dirty="0">
              <a:solidFill>
                <a:prstClr val="black"/>
              </a:solidFill>
              <a:latin typeface="Meiryo UI" pitchFamily="50" charset="-128"/>
              <a:ea typeface="Meiryo UI" pitchFamily="50" charset="-128"/>
            </a:endParaRPr>
          </a:p>
        </p:txBody>
      </p:sp>
      <p:sp>
        <p:nvSpPr>
          <p:cNvPr id="74" name="正方形/長方形 73"/>
          <p:cNvSpPr/>
          <p:nvPr/>
        </p:nvSpPr>
        <p:spPr bwMode="auto">
          <a:xfrm>
            <a:off x="695395" y="2793229"/>
            <a:ext cx="464946" cy="26519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anchor="ctr"/>
          <a:lstStyle/>
          <a:p>
            <a:pPr marL="0" marR="0" lvl="0" indent="0" algn="ctr" defTabSz="914400" rtl="0" eaLnBrk="1" fontAlgn="ctr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解決策</a:t>
            </a:r>
            <a:endParaRPr kumimoji="0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57" name="正方形/長方形 56"/>
          <p:cNvSpPr/>
          <p:nvPr/>
        </p:nvSpPr>
        <p:spPr bwMode="auto">
          <a:xfrm>
            <a:off x="708421" y="1288458"/>
            <a:ext cx="464946" cy="9450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anchor="ctr"/>
          <a:lstStyle/>
          <a:p>
            <a:pPr marL="0" marR="0" lvl="0" indent="0" algn="ctr" defTabSz="914400" rtl="0" eaLnBrk="1" fontAlgn="ctr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課題</a:t>
            </a:r>
            <a:endParaRPr kumimoji="0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60" name="正方形/長方形 59"/>
          <p:cNvSpPr/>
          <p:nvPr/>
        </p:nvSpPr>
        <p:spPr bwMode="auto">
          <a:xfrm>
            <a:off x="272480" y="1288458"/>
            <a:ext cx="399600" cy="4144464"/>
          </a:xfrm>
          <a:prstGeom prst="rect">
            <a:avLst/>
          </a:prstGeom>
          <a:solidFill>
            <a:srgbClr val="376092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none" lIns="9000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提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案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b="1" kern="0" spc="300" dirty="0">
                <a:solidFill>
                  <a:prstClr val="white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詳</a:t>
            </a:r>
            <a:endParaRPr kumimoji="0" lang="en-US" altLang="ja-JP" b="1" kern="0" spc="300" dirty="0">
              <a:solidFill>
                <a:prstClr val="white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b="1" kern="0" spc="300" dirty="0">
                <a:solidFill>
                  <a:prstClr val="white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細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graphicFrame>
        <p:nvGraphicFramePr>
          <p:cNvPr id="53" name="表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569394"/>
              </p:ext>
            </p:extLst>
          </p:nvPr>
        </p:nvGraphicFramePr>
        <p:xfrm>
          <a:off x="1322415" y="3167257"/>
          <a:ext cx="3735076" cy="2196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700">
                  <a:extLst>
                    <a:ext uri="{9D8B030D-6E8A-4147-A177-3AD203B41FA5}">
                      <a16:colId xmlns:a16="http://schemas.microsoft.com/office/drawing/2014/main" val="2860207447"/>
                    </a:ext>
                  </a:extLst>
                </a:gridCol>
                <a:gridCol w="848550">
                  <a:extLst>
                    <a:ext uri="{9D8B030D-6E8A-4147-A177-3AD203B41FA5}">
                      <a16:colId xmlns:a16="http://schemas.microsoft.com/office/drawing/2014/main" val="3084838689"/>
                    </a:ext>
                  </a:extLst>
                </a:gridCol>
                <a:gridCol w="1380890">
                  <a:extLst>
                    <a:ext uri="{9D8B030D-6E8A-4147-A177-3AD203B41FA5}">
                      <a16:colId xmlns:a16="http://schemas.microsoft.com/office/drawing/2014/main" val="1008574375"/>
                    </a:ext>
                  </a:extLst>
                </a:gridCol>
              </a:tblGrid>
              <a:tr h="230322">
                <a:tc>
                  <a:txBody>
                    <a:bodyPr/>
                    <a:lstStyle/>
                    <a:p>
                      <a:r>
                        <a:rPr kumimoji="1" lang="en-US" altLang="ja-JP" sz="10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No</a:t>
                      </a:r>
                      <a:endParaRPr kumimoji="1" lang="ja-JP" altLang="en-US" sz="1000" dirty="0">
                        <a:latin typeface="Meiryo UI" pitchFamily="50" charset="-128"/>
                        <a:ea typeface="Meiryo UI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タスク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工数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開発期間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タスク詳細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①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ja-JP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eiryo UI" pitchFamily="50" charset="-128"/>
                          <a:ea typeface="Meiryo UI" pitchFamily="50" charset="-128"/>
                          <a:cs typeface="Meiryo UI" panose="020B0604030504040204" pitchFamily="50" charset="-128"/>
                        </a:rPr>
                        <a:t>ツール画面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0.5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人月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7/21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～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8/22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入出力設定、バターン選択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0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②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バッチ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ACP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0.6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人月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7/21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～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8/22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IPO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解析、バッチ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ACP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向けテスト報告書作成</a:t>
                      </a:r>
                      <a:endParaRPr kumimoji="1" lang="en-US" altLang="ja-JP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20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③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部品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0.8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人月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8/25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～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9/30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IPO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解析、部品向けテスト報告書作成</a:t>
                      </a:r>
                      <a:endParaRPr kumimoji="1" lang="en-US" altLang="ja-JP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20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④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オンライン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ACP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0.8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人月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10/1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～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11/15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IPO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解析、オンライン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ACP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向けテスト報告書作成</a:t>
                      </a:r>
                      <a:endParaRPr kumimoji="1" lang="en-US" altLang="ja-JP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263100922"/>
                  </a:ext>
                </a:extLst>
              </a:tr>
              <a:tr h="20002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⑤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900" b="0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  <a:cs typeface="Meiryo UI" panose="020B0604030504040204" pitchFamily="50" charset="-128"/>
                        </a:rPr>
                        <a:t>DBI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0.3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人月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11/16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～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12/7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既存の</a:t>
                      </a:r>
                      <a:r>
                        <a:rPr kumimoji="1" lang="en-US" altLang="ja-JP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VBA</a:t>
                      </a:r>
                      <a:r>
                        <a:rPr kumimoji="1" lang="ja-JP" altLang="en-US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ツールを整合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651219333"/>
                  </a:ext>
                </a:extLst>
              </a:tr>
              <a:tr h="29970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90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⑥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並行運用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0.1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人月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12/9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～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1/10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手動テストと並行利用開始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585815697"/>
                  </a:ext>
                </a:extLst>
              </a:tr>
              <a:tr h="200029">
                <a:tc>
                  <a:txBody>
                    <a:bodyPr/>
                    <a:lstStyle/>
                    <a:p>
                      <a:pPr algn="ctr"/>
                      <a:endParaRPr kumimoji="1" lang="ja-JP" altLang="en-US" sz="900" dirty="0">
                        <a:latin typeface="Meiryo UI" pitchFamily="50" charset="-128"/>
                        <a:ea typeface="Meiryo UI" pitchFamily="50" charset="-128"/>
                        <a:cs typeface="Meiryo UI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運用開始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9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1/15</a:t>
                      </a:r>
                      <a:r>
                        <a:rPr kumimoji="1" lang="ja-JP" altLang="en-US" sz="900" dirty="0">
                          <a:solidFill>
                            <a:schemeClr val="tx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から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0" dirty="0"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正式運用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832851512"/>
                  </a:ext>
                </a:extLst>
              </a:tr>
            </a:tbl>
          </a:graphicData>
        </a:graphic>
      </p:graphicFrame>
      <p:graphicFrame>
        <p:nvGraphicFramePr>
          <p:cNvPr id="87" name="表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901462"/>
              </p:ext>
            </p:extLst>
          </p:nvPr>
        </p:nvGraphicFramePr>
        <p:xfrm>
          <a:off x="5194625" y="4678186"/>
          <a:ext cx="4438063" cy="695029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364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6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6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63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6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63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63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797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時間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7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8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9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10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11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12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26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年</a:t>
                      </a:r>
                      <a:r>
                        <a:rPr kumimoji="1" lang="en-US" altLang="ja-JP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1</a:t>
                      </a:r>
                      <a:r>
                        <a:rPr kumimoji="1" lang="ja-JP" altLang="en-US" sz="900" b="1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Meiryo UI" panose="020B0604030504040204" pitchFamily="50" charset="-128"/>
                        </a:rPr>
                        <a:t>月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5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1" dirty="0">
                          <a:solidFill>
                            <a:schemeClr val="tx1"/>
                          </a:solidFill>
                          <a:latin typeface="Meiryo UI" pitchFamily="50" charset="-128"/>
                          <a:ea typeface="Meiryo UI" pitchFamily="50" charset="-128"/>
                          <a:cs typeface="Meiryo UI" pitchFamily="50" charset="-128"/>
                        </a:rPr>
                        <a:t>タスク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9pPr>
                    </a:lstStyle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9pPr>
                    </a:lstStyle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</a:defRPr>
                      </a:lvl9pPr>
                    </a:lstStyle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100" dirty="0">
                        <a:solidFill>
                          <a:schemeClr val="tx1"/>
                        </a:solidFill>
                        <a:latin typeface="Meiryo UI" panose="020B0604030504040204" pitchFamily="50" charset="-128"/>
                        <a:ea typeface="Meiryo UI" panose="020B0604030504040204" pitchFamily="50" charset="-128"/>
                        <a:cs typeface="Meiryo UI" panose="020B0604030504040204" pitchFamily="50" charset="-128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FF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9" name="ホームベース 78"/>
          <p:cNvSpPr/>
          <p:nvPr/>
        </p:nvSpPr>
        <p:spPr bwMode="auto">
          <a:xfrm>
            <a:off x="5821725" y="5025130"/>
            <a:ext cx="672029" cy="138269"/>
          </a:xfrm>
          <a:prstGeom prst="homePlate">
            <a:avLst/>
          </a:prstGeom>
          <a:solidFill>
            <a:srgbClr val="FFCC99"/>
          </a:solidFill>
          <a:ln w="1270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algn="just" defTabSz="1395413" fontAlgn="ctr"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</a:pPr>
            <a:r>
              <a:rPr kumimoji="0" lang="ja-JP" altLang="en-US" sz="900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タスク①</a:t>
            </a:r>
          </a:p>
        </p:txBody>
      </p:sp>
      <p:sp>
        <p:nvSpPr>
          <p:cNvPr id="90" name="ホームベース 89"/>
          <p:cNvSpPr/>
          <p:nvPr/>
        </p:nvSpPr>
        <p:spPr bwMode="auto">
          <a:xfrm>
            <a:off x="5821725" y="5206660"/>
            <a:ext cx="679125" cy="128643"/>
          </a:xfrm>
          <a:prstGeom prst="homePlate">
            <a:avLst/>
          </a:prstGeom>
          <a:solidFill>
            <a:srgbClr val="FFCC99"/>
          </a:solidFill>
          <a:ln w="1270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algn="just" defTabSz="1395413" fontAlgn="ctr"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</a:pPr>
            <a:r>
              <a:rPr kumimoji="0" lang="ja-JP" altLang="en-US" sz="900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タスク②</a:t>
            </a:r>
          </a:p>
        </p:txBody>
      </p:sp>
      <p:sp>
        <p:nvSpPr>
          <p:cNvPr id="91" name="ホームベース 90"/>
          <p:cNvSpPr/>
          <p:nvPr/>
        </p:nvSpPr>
        <p:spPr bwMode="auto">
          <a:xfrm>
            <a:off x="6522771" y="5067257"/>
            <a:ext cx="742780" cy="216027"/>
          </a:xfrm>
          <a:prstGeom prst="homePlate">
            <a:avLst/>
          </a:prstGeom>
          <a:solidFill>
            <a:srgbClr val="FFCC99"/>
          </a:solidFill>
          <a:ln w="1270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algn="just" defTabSz="1395413" fontAlgn="ctr"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</a:pPr>
            <a:r>
              <a:rPr kumimoji="0" lang="ja-JP" altLang="en-US" sz="900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タスク③</a:t>
            </a:r>
          </a:p>
        </p:txBody>
      </p:sp>
      <p:sp>
        <p:nvSpPr>
          <p:cNvPr id="92" name="ホームベース 91"/>
          <p:cNvSpPr/>
          <p:nvPr/>
        </p:nvSpPr>
        <p:spPr bwMode="auto">
          <a:xfrm>
            <a:off x="7280197" y="5067257"/>
            <a:ext cx="778333" cy="223716"/>
          </a:xfrm>
          <a:prstGeom prst="homePlate">
            <a:avLst/>
          </a:prstGeom>
          <a:solidFill>
            <a:srgbClr val="FFCC99"/>
          </a:solidFill>
          <a:ln w="1270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algn="just" defTabSz="1395413" fontAlgn="ctr"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</a:pPr>
            <a:r>
              <a:rPr kumimoji="0" lang="ja-JP" altLang="en-US" sz="900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タスク④</a:t>
            </a:r>
          </a:p>
        </p:txBody>
      </p:sp>
      <p:sp>
        <p:nvSpPr>
          <p:cNvPr id="116" name="Rectangle 4"/>
          <p:cNvSpPr>
            <a:spLocks noChangeArrowheads="1"/>
          </p:cNvSpPr>
          <p:nvPr/>
        </p:nvSpPr>
        <p:spPr bwMode="auto">
          <a:xfrm>
            <a:off x="5194625" y="3185693"/>
            <a:ext cx="4438061" cy="120608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72000" tIns="72000" rIns="0" bIns="72000" anchor="t" anchorCtr="0"/>
          <a:lstStyle/>
          <a:p>
            <a:pPr lvl="0">
              <a:spcAft>
                <a:spcPts val="400"/>
              </a:spcAft>
              <a:buClr>
                <a:srgbClr val="0070C0"/>
              </a:buClr>
              <a:buSzPct val="100000"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　</a:t>
            </a:r>
            <a:endParaRPr kumimoji="1" lang="en-US" altLang="ja-JP" sz="12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9" name="正方形/長方形 118"/>
          <p:cNvSpPr/>
          <p:nvPr/>
        </p:nvSpPr>
        <p:spPr bwMode="auto">
          <a:xfrm>
            <a:off x="272480" y="5451337"/>
            <a:ext cx="399600" cy="1308164"/>
          </a:xfrm>
          <a:prstGeom prst="rect">
            <a:avLst/>
          </a:prstGeom>
          <a:solidFill>
            <a:srgbClr val="376092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="horz" wrap="none" lIns="90000" tIns="0" rIns="9144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期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待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効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200" b="1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果</a:t>
            </a:r>
            <a:endParaRPr kumimoji="0" lang="en-US" altLang="ja-JP" sz="1200" b="1" i="0" u="none" strike="noStrike" kern="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66" name="正方形/長方形 165"/>
          <p:cNvSpPr/>
          <p:nvPr/>
        </p:nvSpPr>
        <p:spPr bwMode="auto">
          <a:xfrm>
            <a:off x="695395" y="5451337"/>
            <a:ext cx="4536000" cy="1308164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ja-JP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7" name="正方形/長方形 166"/>
          <p:cNvSpPr/>
          <p:nvPr/>
        </p:nvSpPr>
        <p:spPr bwMode="auto">
          <a:xfrm>
            <a:off x="2144848" y="5400073"/>
            <a:ext cx="1440000" cy="225243"/>
          </a:xfrm>
          <a:prstGeom prst="rect">
            <a:avLst/>
          </a:prstGeom>
          <a:solidFill>
            <a:srgbClr val="1F497D"/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お客様への貢献</a:t>
            </a:r>
          </a:p>
        </p:txBody>
      </p:sp>
      <p:sp>
        <p:nvSpPr>
          <p:cNvPr id="168" name="正方形/長方形 167"/>
          <p:cNvSpPr/>
          <p:nvPr/>
        </p:nvSpPr>
        <p:spPr bwMode="auto">
          <a:xfrm>
            <a:off x="748001" y="6305507"/>
            <a:ext cx="4483394" cy="453994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テスト報告書自動化に伴い、テストケース漏れ、低級ミスを防止可能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7" name="正方形/長方形 176"/>
          <p:cNvSpPr/>
          <p:nvPr/>
        </p:nvSpPr>
        <p:spPr bwMode="auto">
          <a:xfrm>
            <a:off x="748001" y="5701659"/>
            <a:ext cx="4483394" cy="432000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テスト報告書作成時間を大幅に縮減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※20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％～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50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％↓ 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開発効率向上</a:t>
            </a:r>
            <a:endParaRPr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8" name="正方形/長方形 177"/>
          <p:cNvSpPr/>
          <p:nvPr/>
        </p:nvSpPr>
        <p:spPr bwMode="auto">
          <a:xfrm>
            <a:off x="756958" y="5597640"/>
            <a:ext cx="1188000" cy="180000"/>
          </a:xfrm>
          <a:prstGeom prst="rect">
            <a:avLst/>
          </a:prstGeom>
          <a:solidFill>
            <a:srgbClr val="4BACC6">
              <a:lumMod val="75000"/>
            </a:srgbClr>
          </a:solidFill>
          <a:ln w="19050" cap="flat" cmpd="sng" algn="ctr">
            <a:solidFill>
              <a:srgbClr val="4BACC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none" lIns="90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ja-JP" altLang="en-US" sz="1000" b="1" kern="0" noProof="0" dirty="0">
                <a:solidFill>
                  <a:prstClr val="white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生産性向上</a:t>
            </a:r>
            <a:endParaRPr kumimoji="0" lang="ja-JP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179" name="正方形/長方形 178"/>
          <p:cNvSpPr/>
          <p:nvPr/>
        </p:nvSpPr>
        <p:spPr bwMode="auto">
          <a:xfrm>
            <a:off x="756958" y="6207208"/>
            <a:ext cx="1188000" cy="180000"/>
          </a:xfrm>
          <a:prstGeom prst="rect">
            <a:avLst/>
          </a:prstGeom>
          <a:solidFill>
            <a:srgbClr val="4BACC6">
              <a:lumMod val="75000"/>
            </a:srgbClr>
          </a:solidFill>
          <a:ln w="19050" cap="flat" cmpd="sng" algn="ctr">
            <a:solidFill>
              <a:srgbClr val="4BACC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none" lIns="90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品質向上</a:t>
            </a:r>
          </a:p>
        </p:txBody>
      </p:sp>
      <p:sp>
        <p:nvSpPr>
          <p:cNvPr id="184" name="正方形/長方形 183"/>
          <p:cNvSpPr/>
          <p:nvPr/>
        </p:nvSpPr>
        <p:spPr bwMode="auto">
          <a:xfrm>
            <a:off x="5356583" y="5701659"/>
            <a:ext cx="4459766" cy="432000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Python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開発と生成式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経験者を育成（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名想定）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5" name="正方形/長方形 184"/>
          <p:cNvSpPr/>
          <p:nvPr/>
        </p:nvSpPr>
        <p:spPr bwMode="auto">
          <a:xfrm>
            <a:off x="5368096" y="5588476"/>
            <a:ext cx="1188000" cy="180000"/>
          </a:xfrm>
          <a:prstGeom prst="rect">
            <a:avLst/>
          </a:prstGeom>
          <a:solidFill>
            <a:srgbClr val="4BACC6">
              <a:lumMod val="75000"/>
            </a:srgbClr>
          </a:solidFill>
          <a:ln w="19050" cap="flat" cmpd="sng" algn="ctr">
            <a:solidFill>
              <a:srgbClr val="4BACC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none" lIns="90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要員育成</a:t>
            </a:r>
          </a:p>
        </p:txBody>
      </p:sp>
      <p:sp>
        <p:nvSpPr>
          <p:cNvPr id="186" name="正方形/長方形 185"/>
          <p:cNvSpPr/>
          <p:nvPr/>
        </p:nvSpPr>
        <p:spPr bwMode="auto">
          <a:xfrm>
            <a:off x="5368096" y="6223696"/>
            <a:ext cx="1188000" cy="180000"/>
          </a:xfrm>
          <a:prstGeom prst="rect">
            <a:avLst/>
          </a:prstGeom>
          <a:solidFill>
            <a:srgbClr val="4BACC6">
              <a:lumMod val="75000"/>
            </a:srgbClr>
          </a:solidFill>
          <a:ln w="19050" cap="flat" cmpd="sng" algn="ctr">
            <a:solidFill>
              <a:srgbClr val="4BACC6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none" lIns="90000" tIns="0" rIns="9144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ja-JP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itchFamily="50" charset="-128"/>
                <a:ea typeface="Meiryo UI" pitchFamily="50" charset="-128"/>
                <a:cs typeface="Meiryo UI" pitchFamily="50" charset="-128"/>
              </a:rPr>
              <a:t>経験蓄積</a:t>
            </a:r>
          </a:p>
        </p:txBody>
      </p:sp>
      <p:grpSp>
        <p:nvGrpSpPr>
          <p:cNvPr id="189" name="グループ化 188"/>
          <p:cNvGrpSpPr/>
          <p:nvPr/>
        </p:nvGrpSpPr>
        <p:grpSpPr>
          <a:xfrm>
            <a:off x="9264347" y="4959775"/>
            <a:ext cx="156121" cy="190783"/>
            <a:chOff x="6409926" y="2318043"/>
            <a:chExt cx="262005" cy="299920"/>
          </a:xfrm>
        </p:grpSpPr>
        <p:sp>
          <p:nvSpPr>
            <p:cNvPr id="190" name="AutoShape 258"/>
            <p:cNvSpPr>
              <a:spLocks noChangeArrowheads="1"/>
            </p:cNvSpPr>
            <p:nvPr/>
          </p:nvSpPr>
          <p:spPr bwMode="auto">
            <a:xfrm rot="810998">
              <a:off x="6445887" y="2318043"/>
              <a:ext cx="226044" cy="184799"/>
            </a:xfrm>
            <a:prstGeom prst="wave">
              <a:avLst>
                <a:gd name="adj1" fmla="val 13005"/>
                <a:gd name="adj2" fmla="val 0"/>
              </a:avLst>
            </a:prstGeom>
            <a:solidFill>
              <a:srgbClr val="FF5050"/>
            </a:solidFill>
            <a:ln w="15875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algn="l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l"/>
                <a:defRPr kumimoji="1" sz="34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algn="l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–"/>
                <a:defRPr kumimoji="1" sz="30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algn="l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•"/>
                <a:defRPr kumimoji="1" sz="25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algn="l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–"/>
                <a:defRPr kumimoji="1" sz="19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algn="l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•"/>
                <a:defRPr kumimoji="1" sz="19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•"/>
                <a:defRPr kumimoji="1" sz="19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•"/>
                <a:defRPr kumimoji="1" sz="19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•"/>
                <a:defRPr kumimoji="1" sz="19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CCCC"/>
                </a:buClr>
                <a:buChar char="•"/>
                <a:defRPr kumimoji="1" sz="1900" b="1">
                  <a:solidFill>
                    <a:schemeClr val="bg2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10000"/>
                </a:spcAft>
                <a:buClr>
                  <a:srgbClr val="000066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1" lang="ja-JP" altLang="ja-JP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1" name="Line 259"/>
            <p:cNvSpPr>
              <a:spLocks noChangeShapeType="1"/>
            </p:cNvSpPr>
            <p:nvPr/>
          </p:nvSpPr>
          <p:spPr bwMode="auto">
            <a:xfrm rot="810998">
              <a:off x="6409926" y="2448311"/>
              <a:ext cx="0" cy="16965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92" name="テキスト ボックス 191"/>
          <p:cNvSpPr txBox="1"/>
          <p:nvPr/>
        </p:nvSpPr>
        <p:spPr>
          <a:xfrm>
            <a:off x="9240158" y="5156283"/>
            <a:ext cx="1133861" cy="21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運用開始</a:t>
            </a:r>
          </a:p>
        </p:txBody>
      </p:sp>
      <p:sp>
        <p:nvSpPr>
          <p:cNvPr id="193" name="テキスト ボックス 192"/>
          <p:cNvSpPr txBox="1"/>
          <p:nvPr/>
        </p:nvSpPr>
        <p:spPr>
          <a:xfrm>
            <a:off x="1173367" y="2987732"/>
            <a:ext cx="417008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◆</a:t>
            </a:r>
            <a:r>
              <a:rPr kumimoji="1"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IPO</a:t>
            </a:r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の種別よりタスクを分割して別々作成（合計工数：</a:t>
            </a:r>
            <a:r>
              <a:rPr kumimoji="1"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3.1</a:t>
            </a:r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人月見込）</a:t>
            </a:r>
          </a:p>
        </p:txBody>
      </p:sp>
      <p:sp>
        <p:nvSpPr>
          <p:cNvPr id="195" name="テキスト ボックス 194"/>
          <p:cNvSpPr txBox="1"/>
          <p:nvPr/>
        </p:nvSpPr>
        <p:spPr>
          <a:xfrm>
            <a:off x="5094106" y="2987732"/>
            <a:ext cx="400180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◆自動化ツールイメージ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使用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技術「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Python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＋</a:t>
            </a:r>
            <a:r>
              <a:rPr lang="en-US" altLang="ja-JP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GitHub</a:t>
            </a:r>
            <a:r>
              <a:rPr lang="ja-JP" altLang="en-US" sz="900" dirty="0">
                <a:latin typeface="Meiryo UI" panose="020B0604030504040204" pitchFamily="50" charset="-128"/>
                <a:ea typeface="Meiryo UI" panose="020B0604030504040204" pitchFamily="50" charset="-128"/>
              </a:rPr>
              <a:t>」</a:t>
            </a:r>
            <a:endParaRPr kumimoji="1" lang="ja-JP" alt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1" name="正方形/長方形 200"/>
          <p:cNvSpPr/>
          <p:nvPr/>
        </p:nvSpPr>
        <p:spPr bwMode="auto">
          <a:xfrm>
            <a:off x="6874005" y="5400073"/>
            <a:ext cx="1440000" cy="225243"/>
          </a:xfrm>
          <a:prstGeom prst="rect">
            <a:avLst/>
          </a:prstGeom>
          <a:solidFill>
            <a:srgbClr val="1F497D"/>
          </a:solidFill>
          <a:ln w="9525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ja-JP" altLang="en-US" kern="0" dirty="0">
                <a:solidFill>
                  <a:prstClr val="white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訊</a:t>
            </a:r>
            <a:r>
              <a: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和への貢献</a:t>
            </a:r>
          </a:p>
        </p:txBody>
      </p:sp>
      <p:sp>
        <p:nvSpPr>
          <p:cNvPr id="70" name="ホームベース 69"/>
          <p:cNvSpPr/>
          <p:nvPr/>
        </p:nvSpPr>
        <p:spPr bwMode="auto">
          <a:xfrm>
            <a:off x="8067280" y="5064493"/>
            <a:ext cx="551459" cy="226479"/>
          </a:xfrm>
          <a:prstGeom prst="homePlate">
            <a:avLst/>
          </a:prstGeom>
          <a:solidFill>
            <a:srgbClr val="FFCC99"/>
          </a:solidFill>
          <a:ln w="1270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algn="just" defTabSz="1395413" fontAlgn="ctr"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</a:pPr>
            <a:r>
              <a:rPr kumimoji="0" lang="ja-JP" altLang="en-US" sz="800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タスク⑤</a:t>
            </a:r>
          </a:p>
        </p:txBody>
      </p:sp>
      <p:cxnSp>
        <p:nvCxnSpPr>
          <p:cNvPr id="227" name="直線コネクタ 226"/>
          <p:cNvCxnSpPr>
            <a:cxnSpLocks/>
          </p:cNvCxnSpPr>
          <p:nvPr/>
        </p:nvCxnSpPr>
        <p:spPr bwMode="auto">
          <a:xfrm>
            <a:off x="6249144" y="4676238"/>
            <a:ext cx="0" cy="684000"/>
          </a:xfrm>
          <a:prstGeom prst="line">
            <a:avLst/>
          </a:prstGeom>
          <a:gradFill rotWithShape="1">
            <a:gsLst>
              <a:gs pos="0">
                <a:schemeClr val="bg1"/>
              </a:gs>
              <a:gs pos="100000">
                <a:srgbClr val="FFCCFF"/>
              </a:gs>
            </a:gsLst>
            <a:lin ang="2700000" scaled="1"/>
          </a:gra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" name="図 1">
            <a:extLst>
              <a:ext uri="{FF2B5EF4-FFF2-40B4-BE49-F238E27FC236}">
                <a16:creationId xmlns:a16="http://schemas.microsoft.com/office/drawing/2014/main" id="{26BF7071-E3C3-6BE8-F933-7449338637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153"/>
          <a:stretch/>
        </p:blipFill>
        <p:spPr>
          <a:xfrm>
            <a:off x="5215300" y="3281667"/>
            <a:ext cx="1702046" cy="1020172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6922BC7F-EB0C-C481-4CE2-D47FBB2EE0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7387"/>
          <a:stretch/>
        </p:blipFill>
        <p:spPr>
          <a:xfrm>
            <a:off x="7009538" y="3305325"/>
            <a:ext cx="2440275" cy="996513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2512C8-1F5E-93E6-9F07-564CBDED615D}"/>
              </a:ext>
            </a:extLst>
          </p:cNvPr>
          <p:cNvSpPr txBox="1"/>
          <p:nvPr/>
        </p:nvSpPr>
        <p:spPr>
          <a:xfrm>
            <a:off x="5057491" y="4413549"/>
            <a:ext cx="125888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ja-JP" altLang="en-US" sz="1000" dirty="0">
                <a:latin typeface="Meiryo UI" panose="020B0604030504040204" pitchFamily="50" charset="-128"/>
                <a:ea typeface="Meiryo UI" panose="020B0604030504040204" pitchFamily="50" charset="-128"/>
              </a:rPr>
              <a:t>◆推進スケジュール</a:t>
            </a:r>
          </a:p>
        </p:txBody>
      </p:sp>
      <p:sp>
        <p:nvSpPr>
          <p:cNvPr id="6" name="ホームベース 69">
            <a:extLst>
              <a:ext uri="{FF2B5EF4-FFF2-40B4-BE49-F238E27FC236}">
                <a16:creationId xmlns:a16="http://schemas.microsoft.com/office/drawing/2014/main" id="{0F11DB32-CF54-E49A-3A7A-15DACB6F8215}"/>
              </a:ext>
            </a:extLst>
          </p:cNvPr>
          <p:cNvSpPr/>
          <p:nvPr/>
        </p:nvSpPr>
        <p:spPr bwMode="auto">
          <a:xfrm>
            <a:off x="8641207" y="5087680"/>
            <a:ext cx="604263" cy="203293"/>
          </a:xfrm>
          <a:prstGeom prst="homePlate">
            <a:avLst/>
          </a:prstGeom>
          <a:solidFill>
            <a:srgbClr val="FFCC99"/>
          </a:solidFill>
          <a:ln w="1270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lIns="72000" tIns="72000" rIns="72000" bIns="72000" rtlCol="0" anchor="ctr"/>
          <a:lstStyle/>
          <a:p>
            <a:pPr algn="just" defTabSz="1395413" fontAlgn="ctr"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</a:pPr>
            <a:r>
              <a:rPr kumimoji="0" lang="ja-JP" altLang="en-US" sz="900" kern="0" dirty="0">
                <a:solidFill>
                  <a:prstClr val="black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タスク⑥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4205DB8-914A-D422-4F4F-616010A7F558}"/>
              </a:ext>
            </a:extLst>
          </p:cNvPr>
          <p:cNvSpPr/>
          <p:nvPr/>
        </p:nvSpPr>
        <p:spPr bwMode="auto">
          <a:xfrm>
            <a:off x="695395" y="2240107"/>
            <a:ext cx="464946" cy="5504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eaVert" anchor="ctr"/>
          <a:lstStyle/>
          <a:p>
            <a:pPr marL="0" marR="0" lvl="0" indent="0" algn="ctr" defTabSz="914400" rtl="0" eaLnBrk="1" fontAlgn="ctr" latinLnBrk="0" hangingPunct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47E9E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ja-JP" altLang="en-US" sz="1100" dirty="0">
                <a:solidFill>
                  <a:prstClr val="black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分析</a:t>
            </a:r>
            <a:endParaRPr kumimoji="0" lang="en-US" altLang="ja-JP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C179D51-4315-682F-8621-8C6E20A4816F}"/>
              </a:ext>
            </a:extLst>
          </p:cNvPr>
          <p:cNvSpPr/>
          <p:nvPr/>
        </p:nvSpPr>
        <p:spPr>
          <a:xfrm>
            <a:off x="1183656" y="2252279"/>
            <a:ext cx="8632695" cy="53900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72000" tIns="72000" rIns="0" bIns="72000" anchor="t" anchorCtr="0"/>
          <a:lstStyle/>
          <a:p>
            <a:pPr marL="180975" indent="-180975"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SMART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開発は標準化の度合いが高く、作業内容の多くがパターン化可能であるため、自動化の導入に適している。</a:t>
            </a:r>
            <a:endParaRPr lang="en-US" alt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180975" indent="-180975">
              <a:spcAft>
                <a:spcPts val="400"/>
              </a:spcAft>
              <a:buClr>
                <a:srgbClr val="0070C0"/>
              </a:buClr>
              <a:buSzPct val="100000"/>
              <a:buFont typeface="Wingdings" pitchFamily="2" charset="2"/>
              <a:buChar char="Ø"/>
            </a:pP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AI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プログラミング技術を活用することで、テスト報告書の作成を効率化・高度化することが可能となる。</a:t>
            </a:r>
            <a:b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endParaRPr kumimoji="0" lang="en-US" altLang="ja-JP" kern="0" dirty="0">
              <a:solidFill>
                <a:prstClr val="black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084649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【済南本部長報告会】2019年5月度_システム統括本部_v0.2 - コピー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FF"/>
      </a:accent1>
      <a:accent2>
        <a:srgbClr val="00FFCC"/>
      </a:accent2>
      <a:accent3>
        <a:srgbClr val="FFFFFF"/>
      </a:accent3>
      <a:accent4>
        <a:srgbClr val="000000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プロジェクトの概要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lnDef>
  </a:objectDefaults>
  <a:extraClrSchemeLst>
    <a:extraClrScheme>
      <a:clrScheme name="プロジェクトの概要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3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プロジェクトの概要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FF"/>
      </a:accent1>
      <a:accent2>
        <a:srgbClr val="00FFCC"/>
      </a:accent2>
      <a:accent3>
        <a:srgbClr val="FFFFFF"/>
      </a:accent3>
      <a:accent4>
        <a:srgbClr val="000000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2_プロジェクトの概要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lnDef>
    <a:txDef>
      <a:spPr>
        <a:solidFill>
          <a:schemeClr val="bg1"/>
        </a:solidFill>
      </a:spPr>
      <a:bodyPr wrap="square" rtlCol="0">
        <a:spAutoFit/>
      </a:bodyPr>
      <a:lstStyle>
        <a:defPPr algn="r">
          <a:defRPr sz="600" dirty="0"/>
        </a:defPPr>
      </a:lstStyle>
    </a:txDef>
  </a:objectDefaults>
  <a:extraClrSchemeLst>
    <a:extraClrScheme>
      <a:clrScheme name="2_プロジェクトの概要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プロジェクトの概要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プロジェクトの概要 3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プロジェクトの概要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プロジェクトの概要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bg1">
              <a:lumMod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36000" tIns="36000" rIns="36000" bIns="36000" numCol="1" rtlCol="0" anchor="ctr" anchorCtr="0" compatLnSpc="1">
        <a:prstTxWarp prst="textNoShape">
          <a:avLst/>
        </a:prstTxWarp>
      </a:bodyPr>
      <a:lstStyle>
        <a:defPPr marL="0" marR="0" indent="0" algn="ctr" defTabSz="1395413" rtl="0" eaLnBrk="1" fontAlgn="ctr" latinLnBrk="0" hangingPunct="1">
          <a:lnSpc>
            <a:spcPct val="110000"/>
          </a:lnSpc>
          <a:spcBef>
            <a:spcPct val="10000"/>
          </a:spcBef>
          <a:spcAft>
            <a:spcPct val="10000"/>
          </a:spcAft>
          <a:buClr>
            <a:srgbClr val="647E9E"/>
          </a:buClr>
          <a:buSzPct val="80000"/>
          <a:buFont typeface="Wingdings" pitchFamily="2" charset="2"/>
          <a:buNone/>
          <a:tabLst/>
          <a:defRPr kumimoji="1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gradFill rotWithShape="1">
          <a:gsLst>
            <a:gs pos="0">
              <a:schemeClr val="bg1"/>
            </a:gs>
            <a:gs pos="100000">
              <a:srgbClr val="FFCCFF"/>
            </a:gs>
          </a:gsLst>
          <a:lin ang="2700000" scaled="1"/>
        </a:gradFill>
        <a:ln w="12700" cap="flat" cmpd="sng" algn="ctr">
          <a:solidFill>
            <a:srgbClr val="FF0000"/>
          </a:solidFill>
          <a:prstDash val="dash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プロジェクトの概要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プロジェクトの概要 3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①cool9-s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3_①cool9-s-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ＭＳ Ｐゴシック" pitchFamily="50" charset="-128"/>
            <a:ea typeface="ＭＳ Ｐゴシック" pitchFamily="50" charset="-128"/>
          </a:defRPr>
        </a:defPPr>
      </a:lstStyle>
    </a:lnDef>
  </a:objectDefaults>
  <a:extraClrSchemeLst>
    <a:extraClrScheme>
      <a:clrScheme name="①cool9-s-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①cool9-s-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①cool9-s-1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C"/>
        </a:accent1>
        <a:accent2>
          <a:srgbClr val="FFCCCC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B9"/>
        </a:accent6>
        <a:hlink>
          <a:srgbClr val="D8F5D7"/>
        </a:hlink>
        <a:folHlink>
          <a:srgbClr val="CDD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【済南本部長報告会】2019年5月度_システム統括本部_v0.2 - コピー</Template>
  <TotalTime>6307</TotalTime>
  <Words>491</Words>
  <Application>Microsoft Office PowerPoint</Application>
  <PresentationFormat>A4 210 x 297 mm</PresentationFormat>
  <Paragraphs>96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1</vt:i4>
      </vt:variant>
    </vt:vector>
  </HeadingPairs>
  <TitlesOfParts>
    <vt:vector size="11" baseType="lpstr">
      <vt:lpstr>Meiryo UI</vt:lpstr>
      <vt:lpstr>ＭＳ Ｐゴシック</vt:lpstr>
      <vt:lpstr>Arial</vt:lpstr>
      <vt:lpstr>Century Gothic</vt:lpstr>
      <vt:lpstr>Times New Roman</vt:lpstr>
      <vt:lpstr>Wingdings</vt:lpstr>
      <vt:lpstr>【済南本部長報告会】2019年5月度_システム統括本部_v0.2 - コピー</vt:lpstr>
      <vt:lpstr>2_プロジェクトの概要</vt:lpstr>
      <vt:lpstr>3_プロジェクトの概要</vt:lpstr>
      <vt:lpstr>3_①cool9-s-1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段爱华</dc:creator>
  <cp:lastModifiedBy>郭 芸/DIRリテール基幹システム第一部</cp:lastModifiedBy>
  <cp:revision>313</cp:revision>
  <cp:lastPrinted>2019-06-12T07:33:00Z</cp:lastPrinted>
  <dcterms:created xsi:type="dcterms:W3CDTF">2019-06-03T09:13:36Z</dcterms:created>
  <dcterms:modified xsi:type="dcterms:W3CDTF">2025-07-30T01:02:22Z</dcterms:modified>
</cp:coreProperties>
</file>